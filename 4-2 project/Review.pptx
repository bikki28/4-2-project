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4"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 bikki" userId="74c8e181aac439b3" providerId="LiveId" clId="{843138A2-289F-49A6-B35F-2E6264473CCF}"/>
    <pc:docChg chg="undo custSel addSld modSld">
      <pc:chgData name="vishnu bikki" userId="74c8e181aac439b3" providerId="LiveId" clId="{843138A2-289F-49A6-B35F-2E6264473CCF}" dt="2026-03-27T06:58:45.635" v="516" actId="1036"/>
      <pc:docMkLst>
        <pc:docMk/>
      </pc:docMkLst>
      <pc:sldChg chg="modSp mod">
        <pc:chgData name="vishnu bikki" userId="74c8e181aac439b3" providerId="LiveId" clId="{843138A2-289F-49A6-B35F-2E6264473CCF}" dt="2026-03-27T06:58:45.635" v="516" actId="1036"/>
        <pc:sldMkLst>
          <pc:docMk/>
          <pc:sldMk cId="2447833303" sldId="256"/>
        </pc:sldMkLst>
        <pc:spChg chg="mod">
          <ac:chgData name="vishnu bikki" userId="74c8e181aac439b3" providerId="LiveId" clId="{843138A2-289F-49A6-B35F-2E6264473CCF}" dt="2026-03-27T06:43:54.829" v="510" actId="1076"/>
          <ac:spMkLst>
            <pc:docMk/>
            <pc:sldMk cId="2447833303" sldId="256"/>
            <ac:spMk id="4" creationId="{02E42F9D-8B39-6C6A-2DAA-4A4CB0B6EED4}"/>
          </ac:spMkLst>
        </pc:spChg>
        <pc:spChg chg="mod">
          <ac:chgData name="vishnu bikki" userId="74c8e181aac439b3" providerId="LiveId" clId="{843138A2-289F-49A6-B35F-2E6264473CCF}" dt="2026-03-17T06:00:43.718" v="450" actId="20577"/>
          <ac:spMkLst>
            <pc:docMk/>
            <pc:sldMk cId="2447833303" sldId="256"/>
            <ac:spMk id="5" creationId="{85D4D6E6-93BA-989B-BB0D-462B22A4133D}"/>
          </ac:spMkLst>
        </pc:spChg>
        <pc:spChg chg="mod">
          <ac:chgData name="vishnu bikki" userId="74c8e181aac439b3" providerId="LiveId" clId="{843138A2-289F-49A6-B35F-2E6264473CCF}" dt="2026-03-27T06:58:45.635" v="516" actId="1036"/>
          <ac:spMkLst>
            <pc:docMk/>
            <pc:sldMk cId="2447833303" sldId="256"/>
            <ac:spMk id="6" creationId="{40382F59-412C-2B4F-B7EC-DA2E4ABDF1E1}"/>
          </ac:spMkLst>
        </pc:spChg>
      </pc:sldChg>
      <pc:sldChg chg="modSp mod">
        <pc:chgData name="vishnu bikki" userId="74c8e181aac439b3" providerId="LiveId" clId="{843138A2-289F-49A6-B35F-2E6264473CCF}" dt="2026-03-17T06:01:12.583" v="452" actId="1076"/>
        <pc:sldMkLst>
          <pc:docMk/>
          <pc:sldMk cId="169788500" sldId="257"/>
        </pc:sldMkLst>
        <pc:spChg chg="mod">
          <ac:chgData name="vishnu bikki" userId="74c8e181aac439b3" providerId="LiveId" clId="{843138A2-289F-49A6-B35F-2E6264473CCF}" dt="2026-03-17T06:01:12.583" v="452" actId="1076"/>
          <ac:spMkLst>
            <pc:docMk/>
            <pc:sldMk cId="169788500" sldId="257"/>
            <ac:spMk id="4" creationId="{5946A0FA-412F-CD76-3559-3202207D9A72}"/>
          </ac:spMkLst>
        </pc:spChg>
        <pc:spChg chg="mod">
          <ac:chgData name="vishnu bikki" userId="74c8e181aac439b3" providerId="LiveId" clId="{843138A2-289F-49A6-B35F-2E6264473CCF}" dt="2026-03-17T06:01:06.962" v="451" actId="1076"/>
          <ac:spMkLst>
            <pc:docMk/>
            <pc:sldMk cId="169788500" sldId="257"/>
            <ac:spMk id="5" creationId="{DA97ACD9-778D-4E4B-C4B7-CED3DD21B65F}"/>
          </ac:spMkLst>
        </pc:spChg>
      </pc:sldChg>
      <pc:sldChg chg="modSp mod">
        <pc:chgData name="vishnu bikki" userId="74c8e181aac439b3" providerId="LiveId" clId="{843138A2-289F-49A6-B35F-2E6264473CCF}" dt="2026-03-17T06:01:36.673" v="454" actId="1076"/>
        <pc:sldMkLst>
          <pc:docMk/>
          <pc:sldMk cId="2713050287" sldId="258"/>
        </pc:sldMkLst>
        <pc:spChg chg="mod">
          <ac:chgData name="vishnu bikki" userId="74c8e181aac439b3" providerId="LiveId" clId="{843138A2-289F-49A6-B35F-2E6264473CCF}" dt="2026-03-17T06:01:36.673" v="454" actId="1076"/>
          <ac:spMkLst>
            <pc:docMk/>
            <pc:sldMk cId="2713050287" sldId="258"/>
            <ac:spMk id="2" creationId="{68B2C30D-8408-EB95-4BF7-4D7F69B6BA7D}"/>
          </ac:spMkLst>
        </pc:spChg>
        <pc:spChg chg="mod">
          <ac:chgData name="vishnu bikki" userId="74c8e181aac439b3" providerId="LiveId" clId="{843138A2-289F-49A6-B35F-2E6264473CCF}" dt="2026-03-17T06:01:33.003" v="453" actId="1076"/>
          <ac:spMkLst>
            <pc:docMk/>
            <pc:sldMk cId="2713050287" sldId="258"/>
            <ac:spMk id="3" creationId="{8DC8AF0D-0BFC-13C7-FD41-6A9DF6EFF2D6}"/>
          </ac:spMkLst>
        </pc:spChg>
      </pc:sldChg>
      <pc:sldChg chg="addSp delSp modSp mod">
        <pc:chgData name="vishnu bikki" userId="74c8e181aac439b3" providerId="LiveId" clId="{843138A2-289F-49A6-B35F-2E6264473CCF}" dt="2026-03-17T05:27:21.352" v="177" actId="1076"/>
        <pc:sldMkLst>
          <pc:docMk/>
          <pc:sldMk cId="3423181816" sldId="259"/>
        </pc:sldMkLst>
        <pc:spChg chg="add del mod">
          <ac:chgData name="vishnu bikki" userId="74c8e181aac439b3" providerId="LiveId" clId="{843138A2-289F-49A6-B35F-2E6264473CCF}" dt="2026-03-17T05:27:14.193" v="176" actId="1076"/>
          <ac:spMkLst>
            <pc:docMk/>
            <pc:sldMk cId="3423181816" sldId="259"/>
            <ac:spMk id="2" creationId="{BEBF19CA-A13B-1035-BAC9-117A685A77A1}"/>
          </ac:spMkLst>
        </pc:spChg>
        <pc:spChg chg="add del mod">
          <ac:chgData name="vishnu bikki" userId="74c8e181aac439b3" providerId="LiveId" clId="{843138A2-289F-49A6-B35F-2E6264473CCF}" dt="2026-03-17T05:18:38.284" v="116" actId="47"/>
          <ac:spMkLst>
            <pc:docMk/>
            <pc:sldMk cId="3423181816" sldId="259"/>
            <ac:spMk id="3" creationId="{A6BB7E85-54BC-B612-6E17-794627953CAD}"/>
          </ac:spMkLst>
        </pc:spChg>
        <pc:spChg chg="add mod">
          <ac:chgData name="vishnu bikki" userId="74c8e181aac439b3" providerId="LiveId" clId="{843138A2-289F-49A6-B35F-2E6264473CCF}" dt="2026-03-17T05:27:21.352" v="177" actId="1076"/>
          <ac:spMkLst>
            <pc:docMk/>
            <pc:sldMk cId="3423181816" sldId="259"/>
            <ac:spMk id="7" creationId="{B3853E60-C94D-A0B4-C0FF-1AD45E952EDF}"/>
          </ac:spMkLst>
        </pc:spChg>
      </pc:sldChg>
      <pc:sldChg chg="addSp delSp modSp mod">
        <pc:chgData name="vishnu bikki" userId="74c8e181aac439b3" providerId="LiveId" clId="{843138A2-289F-49A6-B35F-2E6264473CCF}" dt="2026-03-17T06:02:40.762" v="502" actId="20577"/>
        <pc:sldMkLst>
          <pc:docMk/>
          <pc:sldMk cId="3429221134" sldId="260"/>
        </pc:sldMkLst>
        <pc:spChg chg="mod">
          <ac:chgData name="vishnu bikki" userId="74c8e181aac439b3" providerId="LiveId" clId="{843138A2-289F-49A6-B35F-2E6264473CCF}" dt="2026-03-17T05:29:24.241" v="200" actId="1076"/>
          <ac:spMkLst>
            <pc:docMk/>
            <pc:sldMk cId="3429221134" sldId="260"/>
            <ac:spMk id="2" creationId="{EDF75002-1152-E660-C08A-BBC6D93D1807}"/>
          </ac:spMkLst>
        </pc:spChg>
        <pc:spChg chg="add mod">
          <ac:chgData name="vishnu bikki" userId="74c8e181aac439b3" providerId="LiveId" clId="{843138A2-289F-49A6-B35F-2E6264473CCF}" dt="2026-03-17T05:29:56.206" v="215" actId="113"/>
          <ac:spMkLst>
            <pc:docMk/>
            <pc:sldMk cId="3429221134" sldId="260"/>
            <ac:spMk id="4" creationId="{7BD6A118-BE43-0AC5-4B42-B7A1739B8CA3}"/>
          </ac:spMkLst>
        </pc:spChg>
        <pc:spChg chg="add mod">
          <ac:chgData name="vishnu bikki" userId="74c8e181aac439b3" providerId="LiveId" clId="{843138A2-289F-49A6-B35F-2E6264473CCF}" dt="2026-03-17T06:02:40.762" v="502" actId="20577"/>
          <ac:spMkLst>
            <pc:docMk/>
            <pc:sldMk cId="3429221134" sldId="260"/>
            <ac:spMk id="8" creationId="{136D33AB-A8AB-0841-6F62-86327B2C44A0}"/>
          </ac:spMkLst>
        </pc:spChg>
        <pc:picChg chg="add mod">
          <ac:chgData name="vishnu bikki" userId="74c8e181aac439b3" providerId="LiveId" clId="{843138A2-289F-49A6-B35F-2E6264473CCF}" dt="2026-03-17T05:31:56.444" v="232" actId="14100"/>
          <ac:picMkLst>
            <pc:docMk/>
            <pc:sldMk cId="3429221134" sldId="260"/>
            <ac:picMk id="7" creationId="{FDC0C86E-6DA2-B249-A1AD-5854D29398DF}"/>
          </ac:picMkLst>
        </pc:picChg>
      </pc:sldChg>
      <pc:sldChg chg="modSp mod">
        <pc:chgData name="vishnu bikki" userId="74c8e181aac439b3" providerId="LiveId" clId="{843138A2-289F-49A6-B35F-2E6264473CCF}" dt="2026-03-17T05:39:14.250" v="334" actId="14100"/>
        <pc:sldMkLst>
          <pc:docMk/>
          <pc:sldMk cId="3055221727" sldId="261"/>
        </pc:sldMkLst>
        <pc:spChg chg="mod">
          <ac:chgData name="vishnu bikki" userId="74c8e181aac439b3" providerId="LiveId" clId="{843138A2-289F-49A6-B35F-2E6264473CCF}" dt="2026-03-17T05:35:10.437" v="296" actId="113"/>
          <ac:spMkLst>
            <pc:docMk/>
            <pc:sldMk cId="3055221727" sldId="261"/>
            <ac:spMk id="2" creationId="{F8411EC1-CA5C-089D-F2E4-3F6A6BFE18BC}"/>
          </ac:spMkLst>
        </pc:spChg>
        <pc:spChg chg="mod">
          <ac:chgData name="vishnu bikki" userId="74c8e181aac439b3" providerId="LiveId" clId="{843138A2-289F-49A6-B35F-2E6264473CCF}" dt="2026-03-17T05:39:14.250" v="334" actId="14100"/>
          <ac:spMkLst>
            <pc:docMk/>
            <pc:sldMk cId="3055221727" sldId="261"/>
            <ac:spMk id="3" creationId="{37289ECA-90D7-E770-5624-652B9A6F954B}"/>
          </ac:spMkLst>
        </pc:spChg>
      </pc:sldChg>
      <pc:sldChg chg="addSp delSp modSp mod">
        <pc:chgData name="vishnu bikki" userId="74c8e181aac439b3" providerId="LiveId" clId="{843138A2-289F-49A6-B35F-2E6264473CCF}" dt="2026-03-17T05:59:45.022" v="445" actId="1076"/>
        <pc:sldMkLst>
          <pc:docMk/>
          <pc:sldMk cId="1798928281" sldId="262"/>
        </pc:sldMkLst>
        <pc:spChg chg="mod">
          <ac:chgData name="vishnu bikki" userId="74c8e181aac439b3" providerId="LiveId" clId="{843138A2-289F-49A6-B35F-2E6264473CCF}" dt="2026-03-17T05:59:45.022" v="445" actId="1076"/>
          <ac:spMkLst>
            <pc:docMk/>
            <pc:sldMk cId="1798928281" sldId="262"/>
            <ac:spMk id="2" creationId="{57D794A2-4E69-A8F3-62CD-679C66C70B6D}"/>
          </ac:spMkLst>
        </pc:spChg>
        <pc:spChg chg="add mod">
          <ac:chgData name="vishnu bikki" userId="74c8e181aac439b3" providerId="LiveId" clId="{843138A2-289F-49A6-B35F-2E6264473CCF}" dt="2026-03-17T05:59:37.914" v="444" actId="1076"/>
          <ac:spMkLst>
            <pc:docMk/>
            <pc:sldMk cId="1798928281" sldId="262"/>
            <ac:spMk id="6" creationId="{ADDB47B6-39C2-82EE-11F7-25C18C5612DF}"/>
          </ac:spMkLst>
        </pc:spChg>
        <pc:picChg chg="add mod">
          <ac:chgData name="vishnu bikki" userId="74c8e181aac439b3" providerId="LiveId" clId="{843138A2-289F-49A6-B35F-2E6264473CCF}" dt="2026-03-17T05:58:16.188" v="434" actId="1076"/>
          <ac:picMkLst>
            <pc:docMk/>
            <pc:sldMk cId="1798928281" sldId="262"/>
            <ac:picMk id="5" creationId="{C199917B-A76A-4D93-0FE8-22BFA01D279A}"/>
          </ac:picMkLst>
        </pc:picChg>
      </pc:sldChg>
      <pc:sldChg chg="addSp delSp modSp mod setBg">
        <pc:chgData name="vishnu bikki" userId="74c8e181aac439b3" providerId="LiveId" clId="{843138A2-289F-49A6-B35F-2E6264473CCF}" dt="2026-03-17T06:03:42.251" v="509" actId="26606"/>
        <pc:sldMkLst>
          <pc:docMk/>
          <pc:sldMk cId="908719489" sldId="263"/>
        </pc:sldMkLst>
        <pc:picChg chg="add mod">
          <ac:chgData name="vishnu bikki" userId="74c8e181aac439b3" providerId="LiveId" clId="{843138A2-289F-49A6-B35F-2E6264473CCF}" dt="2026-03-17T06:03:42.251" v="509" actId="26606"/>
          <ac:picMkLst>
            <pc:docMk/>
            <pc:sldMk cId="908719489" sldId="263"/>
            <ac:picMk id="3" creationId="{ED089F14-A9E9-DC0C-27D7-7EEE15F88CEF}"/>
          </ac:picMkLst>
        </pc:picChg>
      </pc:sldChg>
      <pc:sldChg chg="addSp modSp add mod">
        <pc:chgData name="vishnu bikki" userId="74c8e181aac439b3" providerId="LiveId" clId="{843138A2-289F-49A6-B35F-2E6264473CCF}" dt="2026-03-17T05:57:08.233" v="425" actId="1076"/>
        <pc:sldMkLst>
          <pc:docMk/>
          <pc:sldMk cId="499399309" sldId="264"/>
        </pc:sldMkLst>
        <pc:spChg chg="mod">
          <ac:chgData name="vishnu bikki" userId="74c8e181aac439b3" providerId="LiveId" clId="{843138A2-289F-49A6-B35F-2E6264473CCF}" dt="2026-03-17T05:57:08.233" v="425" actId="1076"/>
          <ac:spMkLst>
            <pc:docMk/>
            <pc:sldMk cId="499399309" sldId="264"/>
            <ac:spMk id="2" creationId="{15F63DD4-9720-31C3-8816-EFF51B2821F3}"/>
          </ac:spMkLst>
        </pc:spChg>
        <pc:spChg chg="add mod">
          <ac:chgData name="vishnu bikki" userId="74c8e181aac439b3" providerId="LiveId" clId="{843138A2-289F-49A6-B35F-2E6264473CCF}" dt="2026-03-17T05:57:01.375" v="424" actId="20577"/>
          <ac:spMkLst>
            <pc:docMk/>
            <pc:sldMk cId="499399309" sldId="264"/>
            <ac:spMk id="3" creationId="{FF4F0E9A-D39F-3D48-5BC8-8808AF1CCE9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261528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4051732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73462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FB91C9-5C98-42ED-913D-2D2AF6740447}"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549026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FB91C9-5C98-42ED-913D-2D2AF6740447}" type="datetimeFigureOut">
              <a:rPr lang="en-IN" smtClean="0"/>
              <a:t>27-03-2026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381196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794576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876699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868402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10518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430617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509658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82314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063313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217816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591076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586392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402737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4FB91C9-5C98-42ED-913D-2D2AF6740447}" type="datetimeFigureOut">
              <a:rPr lang="en-IN" smtClean="0"/>
              <a:t>27-03-2026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A6EB3D5-6F72-4364-9BD6-8F744D6091CF}" type="slidenum">
              <a:rPr lang="en-IN" smtClean="0"/>
              <a:t>‹#›</a:t>
            </a:fld>
            <a:endParaRPr lang="en-IN"/>
          </a:p>
        </p:txBody>
      </p:sp>
    </p:spTree>
    <p:extLst>
      <p:ext uri="{BB962C8B-B14F-4D97-AF65-F5344CB8AC3E}">
        <p14:creationId xmlns:p14="http://schemas.microsoft.com/office/powerpoint/2010/main" val="156687538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2E42F9D-8B39-6C6A-2DAA-4A4CB0B6EED4}"/>
              </a:ext>
            </a:extLst>
          </p:cNvPr>
          <p:cNvSpPr txBox="1"/>
          <p:nvPr/>
        </p:nvSpPr>
        <p:spPr>
          <a:xfrm>
            <a:off x="2649793" y="221705"/>
            <a:ext cx="7285703" cy="830997"/>
          </a:xfrm>
          <a:prstGeom prst="rect">
            <a:avLst/>
          </a:prstGeom>
          <a:noFill/>
        </p:spPr>
        <p:txBody>
          <a:bodyPr wrap="square" rtlCol="0">
            <a:spAutoFit/>
          </a:bodyPr>
          <a:lstStyle/>
          <a:p>
            <a:pPr algn="ctr"/>
            <a:r>
              <a:rPr lang="en-US" sz="2400" dirty="0"/>
              <a:t>Movie Recommendation System: NLP-Based Recommender System</a:t>
            </a:r>
            <a:endParaRPr lang="en-IN" sz="2400" dirty="0"/>
          </a:p>
        </p:txBody>
      </p:sp>
      <p:sp>
        <p:nvSpPr>
          <p:cNvPr id="5" name="TextBox 4">
            <a:extLst>
              <a:ext uri="{FF2B5EF4-FFF2-40B4-BE49-F238E27FC236}">
                <a16:creationId xmlns:a16="http://schemas.microsoft.com/office/drawing/2014/main" id="{85D4D6E6-93BA-989B-BB0D-462B22A4133D}"/>
              </a:ext>
            </a:extLst>
          </p:cNvPr>
          <p:cNvSpPr txBox="1"/>
          <p:nvPr/>
        </p:nvSpPr>
        <p:spPr>
          <a:xfrm>
            <a:off x="3028335" y="1327356"/>
            <a:ext cx="6130413" cy="2031325"/>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Submitted by</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22JK1A0543  </a:t>
            </a:r>
            <a:r>
              <a:rPr lang="en-US" dirty="0"/>
              <a:t>KAITEPALLI NAGARAJU</a:t>
            </a:r>
            <a:endParaRPr lang="en-US" dirty="0">
              <a:latin typeface="Times New Roman" panose="02020603050405020304" pitchFamily="18" charset="0"/>
              <a:cs typeface="Times New Roman" panose="02020603050405020304" pitchFamily="18" charset="0"/>
            </a:endParaRPr>
          </a:p>
          <a:p>
            <a:pPr algn="ctr"/>
            <a:r>
              <a:rPr lang="en-US" dirty="0"/>
              <a:t>22JK1A0527  BATTULA</a:t>
            </a:r>
            <a:r>
              <a:rPr lang="en-US" dirty="0">
                <a:latin typeface="Times New Roman" panose="02020603050405020304" pitchFamily="18" charset="0"/>
                <a:cs typeface="Times New Roman" panose="02020603050405020304" pitchFamily="18" charset="0"/>
              </a:rPr>
              <a:t> </a:t>
            </a:r>
            <a:r>
              <a:rPr lang="en-US" dirty="0"/>
              <a:t>VISHNU </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22JK1A0528  </a:t>
            </a:r>
            <a:r>
              <a:rPr lang="en-US" dirty="0"/>
              <a:t>BIKKI VISHNU VARDHAN</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22JK1A0529 </a:t>
            </a:r>
            <a:r>
              <a:rPr lang="en-US" dirty="0"/>
              <a:t>RAHUL SAI BOJJANKULA</a:t>
            </a:r>
            <a:endParaRPr lang="en-US" dirty="0">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40382F59-412C-2B4F-B7EC-DA2E4ABDF1E1}"/>
              </a:ext>
            </a:extLst>
          </p:cNvPr>
          <p:cNvSpPr txBox="1"/>
          <p:nvPr/>
        </p:nvSpPr>
        <p:spPr>
          <a:xfrm>
            <a:off x="3234813" y="3260358"/>
            <a:ext cx="5407743" cy="2585323"/>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Under the Guidance of </a:t>
            </a:r>
          </a:p>
          <a:p>
            <a:pPr algn="ctr"/>
            <a:r>
              <a:rPr lang="en-US" dirty="0"/>
              <a:t>K SRINIVAS REDDY</a:t>
            </a:r>
            <a:endParaRPr lang="en-US" dirty="0">
              <a:latin typeface="Times New Roman" panose="02020603050405020304" pitchFamily="18" charset="0"/>
              <a:cs typeface="Times New Roman" panose="02020603050405020304" pitchFamily="18" charset="0"/>
            </a:endParaRPr>
          </a:p>
          <a:p>
            <a:pPr algn="ctr"/>
            <a:r>
              <a:rPr lang="en-US" dirty="0"/>
              <a:t>ASST. PROFESSOR</a:t>
            </a:r>
          </a:p>
          <a:p>
            <a:pPr algn="ctr"/>
            <a:endParaRPr lang="en-US" dirty="0"/>
          </a:p>
          <a:p>
            <a:pPr algn="ctr"/>
            <a:endParaRPr lang="en-US" dirty="0"/>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IN" dirty="0"/>
          </a:p>
        </p:txBody>
      </p:sp>
      <p:sp>
        <p:nvSpPr>
          <p:cNvPr id="13" name="TextBox 12">
            <a:extLst>
              <a:ext uri="{FF2B5EF4-FFF2-40B4-BE49-F238E27FC236}">
                <a16:creationId xmlns:a16="http://schemas.microsoft.com/office/drawing/2014/main" id="{446ACB17-034E-79C2-8E92-A34C9A3C4E98}"/>
              </a:ext>
            </a:extLst>
          </p:cNvPr>
          <p:cNvSpPr txBox="1"/>
          <p:nvPr/>
        </p:nvSpPr>
        <p:spPr>
          <a:xfrm>
            <a:off x="3706761" y="4386485"/>
            <a:ext cx="5997678"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Department of Computer Science &amp; Engineering</a:t>
            </a:r>
          </a:p>
          <a:p>
            <a:pPr algn="ctr"/>
            <a:endParaRPr lang="en-IN" dirty="0"/>
          </a:p>
        </p:txBody>
      </p:sp>
      <p:sp>
        <p:nvSpPr>
          <p:cNvPr id="14" name="TextBox 13">
            <a:extLst>
              <a:ext uri="{FF2B5EF4-FFF2-40B4-BE49-F238E27FC236}">
                <a16:creationId xmlns:a16="http://schemas.microsoft.com/office/drawing/2014/main" id="{5BD7CAAE-0E2B-3B83-D773-EAFA78E1877B}"/>
              </a:ext>
            </a:extLst>
          </p:cNvPr>
          <p:cNvSpPr txBox="1"/>
          <p:nvPr/>
        </p:nvSpPr>
        <p:spPr>
          <a:xfrm>
            <a:off x="3028335" y="4935793"/>
            <a:ext cx="7148052" cy="1477328"/>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KITS AKSHAR INSTITUTE OF TECHNOLOGY</a:t>
            </a:r>
          </a:p>
          <a:p>
            <a:pPr algn="ctr"/>
            <a:r>
              <a:rPr lang="en-US" dirty="0">
                <a:latin typeface="Times New Roman" panose="02020603050405020304" pitchFamily="18" charset="0"/>
                <a:cs typeface="Times New Roman" panose="02020603050405020304" pitchFamily="18" charset="0"/>
              </a:rPr>
              <a:t>Affiliated to JNTU Kakinada</a:t>
            </a:r>
          </a:p>
          <a:p>
            <a:pPr algn="ctr"/>
            <a:r>
              <a:rPr lang="en-US" dirty="0">
                <a:latin typeface="Times New Roman" panose="02020603050405020304" pitchFamily="18" charset="0"/>
                <a:cs typeface="Times New Roman" panose="02020603050405020304" pitchFamily="18" charset="0"/>
              </a:rPr>
              <a:t>2025-26</a:t>
            </a:r>
          </a:p>
          <a:p>
            <a:endParaRPr lang="en-US" dirty="0"/>
          </a:p>
          <a:p>
            <a:endParaRPr lang="en-IN" dirty="0"/>
          </a:p>
        </p:txBody>
      </p:sp>
    </p:spTree>
    <p:extLst>
      <p:ext uri="{BB962C8B-B14F-4D97-AF65-F5344CB8AC3E}">
        <p14:creationId xmlns:p14="http://schemas.microsoft.com/office/powerpoint/2010/main" val="244783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46A0FA-412F-CD76-3559-3202207D9A72}"/>
              </a:ext>
            </a:extLst>
          </p:cNvPr>
          <p:cNvSpPr txBox="1"/>
          <p:nvPr/>
        </p:nvSpPr>
        <p:spPr>
          <a:xfrm>
            <a:off x="757084" y="793223"/>
            <a:ext cx="4277033" cy="707886"/>
          </a:xfrm>
          <a:prstGeom prst="rect">
            <a:avLst/>
          </a:prstGeom>
          <a:noFill/>
        </p:spPr>
        <p:txBody>
          <a:bodyPr wrap="square" rtlCol="0">
            <a:spAutoFit/>
          </a:bodyPr>
          <a:lstStyle/>
          <a:p>
            <a:r>
              <a:rPr lang="en-US" sz="2000" dirty="0"/>
              <a:t>Abstract</a:t>
            </a:r>
          </a:p>
          <a:p>
            <a:endParaRPr lang="en-IN" sz="2000" dirty="0"/>
          </a:p>
        </p:txBody>
      </p:sp>
      <p:sp>
        <p:nvSpPr>
          <p:cNvPr id="5" name="TextBox 4">
            <a:extLst>
              <a:ext uri="{FF2B5EF4-FFF2-40B4-BE49-F238E27FC236}">
                <a16:creationId xmlns:a16="http://schemas.microsoft.com/office/drawing/2014/main" id="{DA97ACD9-778D-4E4B-C4B7-CED3DD21B65F}"/>
              </a:ext>
            </a:extLst>
          </p:cNvPr>
          <p:cNvSpPr txBox="1"/>
          <p:nvPr/>
        </p:nvSpPr>
        <p:spPr>
          <a:xfrm>
            <a:off x="757084" y="1602658"/>
            <a:ext cx="10048568" cy="4108176"/>
          </a:xfrm>
          <a:prstGeom prst="rect">
            <a:avLst/>
          </a:prstGeom>
          <a:noFill/>
        </p:spPr>
        <p:txBody>
          <a:bodyPr wrap="square" rtlCol="0">
            <a:spAutoFit/>
          </a:bodyPr>
          <a:lstStyle/>
          <a:p>
            <a:pPr>
              <a:lnSpc>
                <a:spcPct val="150000"/>
              </a:lnSpc>
            </a:pPr>
            <a:r>
              <a:rPr lang="en-US" sz="1600" dirty="0"/>
              <a:t>The Movie Recommendation System is an NLP-based recommender system that suggests movies based on user interests. It helps users easily find suitable movies from a large collection available on online platforms.</a:t>
            </a:r>
          </a:p>
          <a:p>
            <a:pPr>
              <a:lnSpc>
                <a:spcPct val="150000"/>
              </a:lnSpc>
            </a:pPr>
            <a:r>
              <a:rPr lang="en-US" sz="1600" dirty="0"/>
              <a:t>The system is developed using Python with libraries such as Pandas, NumPy, and Scikit-learn. NLP techniques like TF-IDF are used for text processing, and the project is implemented using </a:t>
            </a:r>
            <a:r>
              <a:rPr lang="en-US" sz="1600" dirty="0" err="1"/>
              <a:t>Jupyter</a:t>
            </a:r>
            <a:r>
              <a:rPr lang="en-US" sz="1600" dirty="0"/>
              <a:t> Notebook or Google Colab.</a:t>
            </a:r>
          </a:p>
          <a:p>
            <a:pPr>
              <a:lnSpc>
                <a:spcPct val="150000"/>
              </a:lnSpc>
            </a:pPr>
            <a:r>
              <a:rPr lang="en-US" sz="1600" dirty="0"/>
              <a:t>The process begins with collecting a movie dataset containing titles, genres, and descriptions. After preprocessing the data, TF-IDF converts text into numerical features and the KNN algorithm finds similar movies.</a:t>
            </a:r>
          </a:p>
          <a:p>
            <a:pPr>
              <a:lnSpc>
                <a:spcPct val="150000"/>
              </a:lnSpc>
            </a:pPr>
            <a:r>
              <a:rPr lang="en-US" sz="1600" dirty="0"/>
              <a:t>his project demonstrates how NLP and machine learning can be used to build an effective movie recommendation system and provide personalized movie suggestions.</a:t>
            </a:r>
            <a:endParaRPr lang="en-IN" sz="1600" dirty="0"/>
          </a:p>
        </p:txBody>
      </p:sp>
    </p:spTree>
    <p:extLst>
      <p:ext uri="{BB962C8B-B14F-4D97-AF65-F5344CB8AC3E}">
        <p14:creationId xmlns:p14="http://schemas.microsoft.com/office/powerpoint/2010/main" val="16978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B2C30D-8408-EB95-4BF7-4D7F69B6BA7D}"/>
              </a:ext>
            </a:extLst>
          </p:cNvPr>
          <p:cNvSpPr txBox="1"/>
          <p:nvPr/>
        </p:nvSpPr>
        <p:spPr>
          <a:xfrm>
            <a:off x="535858" y="648531"/>
            <a:ext cx="4591664" cy="646331"/>
          </a:xfrm>
          <a:prstGeom prst="rect">
            <a:avLst/>
          </a:prstGeom>
          <a:noFill/>
        </p:spPr>
        <p:txBody>
          <a:bodyPr wrap="square" rtlCol="0">
            <a:spAutoFit/>
          </a:bodyPr>
          <a:lstStyle/>
          <a:p>
            <a:r>
              <a:rPr lang="en-US" b="1" dirty="0"/>
              <a:t>Objectives:</a:t>
            </a:r>
          </a:p>
          <a:p>
            <a:endParaRPr lang="en-IN" b="1" dirty="0"/>
          </a:p>
        </p:txBody>
      </p:sp>
      <p:sp>
        <p:nvSpPr>
          <p:cNvPr id="3" name="TextBox 2">
            <a:extLst>
              <a:ext uri="{FF2B5EF4-FFF2-40B4-BE49-F238E27FC236}">
                <a16:creationId xmlns:a16="http://schemas.microsoft.com/office/drawing/2014/main" id="{8DC8AF0D-0BFC-13C7-FD41-6A9DF6EFF2D6}"/>
              </a:ext>
            </a:extLst>
          </p:cNvPr>
          <p:cNvSpPr txBox="1"/>
          <p:nvPr/>
        </p:nvSpPr>
        <p:spPr>
          <a:xfrm>
            <a:off x="535858" y="1532978"/>
            <a:ext cx="11120284" cy="4801314"/>
          </a:xfrm>
          <a:prstGeom prst="rect">
            <a:avLst/>
          </a:prstGeom>
          <a:noFill/>
        </p:spPr>
        <p:txBody>
          <a:bodyPr wrap="square" rtlCol="0">
            <a:spAutoFit/>
          </a:bodyPr>
          <a:lstStyle/>
          <a:p>
            <a:r>
              <a:rPr lang="en-US" dirty="0"/>
              <a:t>The main objective of this project is to develop an NLP-based movie recommendation system that suggests movies based on their content. The system analyzes movie descriptions and genres using Natural Language Processing techniques. It uses TF-IDF and the K-Nearest Neighbors algorithm to identify similar movies and provide accurate recommendations to users.</a:t>
            </a:r>
          </a:p>
          <a:p>
            <a:endParaRPr lang="en-US" dirty="0"/>
          </a:p>
          <a:p>
            <a:endParaRPr lang="en-US" dirty="0"/>
          </a:p>
          <a:p>
            <a:endParaRPr lang="en-US" b="1" dirty="0"/>
          </a:p>
          <a:p>
            <a:r>
              <a:rPr lang="en-US" b="1" dirty="0"/>
              <a:t>Objectives of the Project:</a:t>
            </a:r>
          </a:p>
          <a:p>
            <a:endParaRPr lang="en-US" b="1" dirty="0"/>
          </a:p>
          <a:p>
            <a:r>
              <a:rPr lang="en-US" b="1" dirty="0"/>
              <a:t>Develop Recommendation System:</a:t>
            </a:r>
          </a:p>
          <a:p>
            <a:r>
              <a:rPr lang="en-US" dirty="0"/>
              <a:t>To develop a movie recommendation system that suggests movies based on user interests.</a:t>
            </a:r>
          </a:p>
          <a:p>
            <a:r>
              <a:rPr lang="en-US" b="1" dirty="0"/>
              <a:t>Apply NLP Techniques:</a:t>
            </a:r>
          </a:p>
          <a:p>
            <a:r>
              <a:rPr lang="en-US" dirty="0"/>
              <a:t>To apply Natural Language Processing techniques to analyze movie descriptions and genres.</a:t>
            </a:r>
          </a:p>
          <a:p>
            <a:r>
              <a:rPr lang="en-US" b="1" dirty="0"/>
              <a:t>Text Feature Extraction:</a:t>
            </a:r>
          </a:p>
          <a:p>
            <a:r>
              <a:rPr lang="en-US" dirty="0"/>
              <a:t>To </a:t>
            </a:r>
            <a:r>
              <a:rPr lang="en-US" b="1" dirty="0"/>
              <a:t>convert movie textual data into numerical features using the TF-IDF method.</a:t>
            </a:r>
          </a:p>
          <a:p>
            <a:r>
              <a:rPr lang="en-US" b="1" dirty="0"/>
              <a:t>Similarity Based Recommendation:</a:t>
            </a:r>
          </a:p>
          <a:p>
            <a:r>
              <a:rPr lang="en-US" dirty="0"/>
              <a:t>To implement the K-Nearest Neighbors (KNN) algorithm to recommend similar movies.</a:t>
            </a:r>
            <a:endParaRPr lang="en-IN" dirty="0"/>
          </a:p>
        </p:txBody>
      </p:sp>
    </p:spTree>
    <p:extLst>
      <p:ext uri="{BB962C8B-B14F-4D97-AF65-F5344CB8AC3E}">
        <p14:creationId xmlns:p14="http://schemas.microsoft.com/office/powerpoint/2010/main" val="2713050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BF19CA-A13B-1035-BAC9-117A685A77A1}"/>
              </a:ext>
            </a:extLst>
          </p:cNvPr>
          <p:cNvSpPr txBox="1"/>
          <p:nvPr/>
        </p:nvSpPr>
        <p:spPr>
          <a:xfrm>
            <a:off x="678427" y="216762"/>
            <a:ext cx="4739149" cy="369332"/>
          </a:xfrm>
          <a:prstGeom prst="rect">
            <a:avLst/>
          </a:prstGeom>
          <a:noFill/>
        </p:spPr>
        <p:txBody>
          <a:bodyPr wrap="square" rtlCol="0">
            <a:spAutoFit/>
          </a:bodyPr>
          <a:lstStyle/>
          <a:p>
            <a:r>
              <a:rPr lang="en-US" b="1" dirty="0"/>
              <a:t>Literature Survey:</a:t>
            </a:r>
            <a:endParaRPr lang="en-US" dirty="0"/>
          </a:p>
        </p:txBody>
      </p:sp>
      <p:sp>
        <p:nvSpPr>
          <p:cNvPr id="3" name="TextBox 2">
            <a:extLst>
              <a:ext uri="{FF2B5EF4-FFF2-40B4-BE49-F238E27FC236}">
                <a16:creationId xmlns:a16="http://schemas.microsoft.com/office/drawing/2014/main" id="{A6BB7E85-54BC-B612-6E17-794627953CAD}"/>
              </a:ext>
            </a:extLst>
          </p:cNvPr>
          <p:cNvSpPr txBox="1"/>
          <p:nvPr/>
        </p:nvSpPr>
        <p:spPr>
          <a:xfrm>
            <a:off x="934065" y="1170039"/>
            <a:ext cx="9960077" cy="369332"/>
          </a:xfrm>
          <a:prstGeom prst="rect">
            <a:avLst/>
          </a:prstGeom>
          <a:noFill/>
        </p:spPr>
        <p:txBody>
          <a:bodyPr wrap="square" rtlCol="0">
            <a:spAutoFit/>
          </a:bodyPr>
          <a:lstStyle/>
          <a:p>
            <a:pPr algn="ctr"/>
            <a:endParaRPr lang="en-IN" dirty="0"/>
          </a:p>
        </p:txBody>
      </p:sp>
      <p:sp>
        <p:nvSpPr>
          <p:cNvPr id="7" name="TextBox 6">
            <a:extLst>
              <a:ext uri="{FF2B5EF4-FFF2-40B4-BE49-F238E27FC236}">
                <a16:creationId xmlns:a16="http://schemas.microsoft.com/office/drawing/2014/main" id="{B3853E60-C94D-A0B4-C0FF-1AD45E952EDF}"/>
              </a:ext>
            </a:extLst>
          </p:cNvPr>
          <p:cNvSpPr txBox="1"/>
          <p:nvPr/>
        </p:nvSpPr>
        <p:spPr>
          <a:xfrm>
            <a:off x="678427" y="784434"/>
            <a:ext cx="10726994" cy="5632311"/>
          </a:xfrm>
          <a:prstGeom prst="rect">
            <a:avLst/>
          </a:prstGeom>
          <a:noFill/>
        </p:spPr>
        <p:txBody>
          <a:bodyPr wrap="square" rtlCol="0">
            <a:spAutoFit/>
          </a:bodyPr>
          <a:lstStyle/>
          <a:p>
            <a:r>
              <a:rPr lang="en-US" b="1" dirty="0"/>
              <a:t>International Journal of Advanced Computer Science and Applications, 2023, 14(2), doi:10.14569/IJACSA.2023.0140212 </a:t>
            </a:r>
          </a:p>
          <a:p>
            <a:r>
              <a:rPr lang="en-US" dirty="0"/>
              <a:t>This work is licensed under a Creative Commons Attribution 4.0 International License.</a:t>
            </a:r>
          </a:p>
          <a:p>
            <a:endParaRPr lang="en-US" b="1" dirty="0"/>
          </a:p>
          <a:p>
            <a:r>
              <a:rPr lang="en-US" b="1" dirty="0"/>
              <a:t>Movie Recommendation System Using Machine Learning and Natural Language Processing</a:t>
            </a:r>
          </a:p>
          <a:p>
            <a:endParaRPr lang="en-US" b="1" dirty="0"/>
          </a:p>
          <a:p>
            <a:r>
              <a:rPr lang="en-US" b="1" dirty="0"/>
              <a:t>S. Kumar,  R. Sharma, and P. Gupta </a:t>
            </a:r>
          </a:p>
          <a:p>
            <a:endParaRPr lang="en-US" dirty="0"/>
          </a:p>
          <a:p>
            <a:r>
              <a:rPr lang="en-US" dirty="0"/>
              <a:t>Department of Computer Science, Indian Institute of Technology, India </a:t>
            </a:r>
          </a:p>
          <a:p>
            <a:endParaRPr lang="en-US" dirty="0"/>
          </a:p>
          <a:p>
            <a:r>
              <a:rPr lang="en-US" dirty="0"/>
              <a:t>Abstract</a:t>
            </a:r>
          </a:p>
          <a:p>
            <a:r>
              <a:rPr lang="en-US" dirty="0"/>
              <a:t>Wit the rapid growth of online streaming platforms, users are often overwhelmed by the large number of movies available. Movie recommendation systems help users discover relevant movies based on their preferences. This research focuses on developing a movie recommendation system using Natural Language Processing (NLP) and machine learning techniques. The system analyzes movie descriptions, genres, and metadata to understand the similarity between movies. Techniques such as text preprocessing, TF-IDF vectorization, and cosine similarity are used to convert textual information into numerical features and calculate similarity scores. The proposed model helps users receive personalized movie recommendations based on their interests and previously liked movies</a:t>
            </a:r>
          </a:p>
        </p:txBody>
      </p:sp>
    </p:spTree>
    <p:extLst>
      <p:ext uri="{BB962C8B-B14F-4D97-AF65-F5344CB8AC3E}">
        <p14:creationId xmlns:p14="http://schemas.microsoft.com/office/powerpoint/2010/main" val="3423181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F75002-1152-E660-C08A-BBC6D93D1807}"/>
              </a:ext>
            </a:extLst>
          </p:cNvPr>
          <p:cNvSpPr txBox="1"/>
          <p:nvPr/>
        </p:nvSpPr>
        <p:spPr>
          <a:xfrm>
            <a:off x="993058" y="644013"/>
            <a:ext cx="3460954" cy="668593"/>
          </a:xfrm>
          <a:prstGeom prst="rect">
            <a:avLst/>
          </a:prstGeom>
          <a:noFill/>
        </p:spPr>
        <p:txBody>
          <a:bodyPr wrap="square" rtlCol="0">
            <a:spAutoFit/>
          </a:bodyPr>
          <a:lstStyle/>
          <a:p>
            <a:r>
              <a:rPr lang="en-US" b="1" dirty="0"/>
              <a:t> System Analysis </a:t>
            </a:r>
            <a:r>
              <a:rPr lang="en-US" dirty="0"/>
              <a:t>:</a:t>
            </a:r>
          </a:p>
          <a:p>
            <a:endParaRPr lang="en-IN" dirty="0"/>
          </a:p>
        </p:txBody>
      </p:sp>
      <p:sp>
        <p:nvSpPr>
          <p:cNvPr id="4" name="TextBox 3">
            <a:extLst>
              <a:ext uri="{FF2B5EF4-FFF2-40B4-BE49-F238E27FC236}">
                <a16:creationId xmlns:a16="http://schemas.microsoft.com/office/drawing/2014/main" id="{7BD6A118-BE43-0AC5-4B42-B7A1739B8CA3}"/>
              </a:ext>
            </a:extLst>
          </p:cNvPr>
          <p:cNvSpPr txBox="1"/>
          <p:nvPr/>
        </p:nvSpPr>
        <p:spPr>
          <a:xfrm>
            <a:off x="1096296" y="1455174"/>
            <a:ext cx="6951406" cy="1477328"/>
          </a:xfrm>
          <a:prstGeom prst="rect">
            <a:avLst/>
          </a:prstGeom>
          <a:noFill/>
        </p:spPr>
        <p:txBody>
          <a:bodyPr wrap="square" rtlCol="0">
            <a:spAutoFit/>
          </a:bodyPr>
          <a:lstStyle/>
          <a:p>
            <a:r>
              <a:rPr lang="en-US" b="1" dirty="0"/>
              <a:t>Problem: </a:t>
            </a:r>
          </a:p>
          <a:p>
            <a:r>
              <a:rPr lang="en-US" dirty="0"/>
              <a:t>Users face difficulty selecting suitable movies due to the large number of movies available on online </a:t>
            </a:r>
            <a:r>
              <a:rPr lang="en-US" dirty="0" err="1"/>
              <a:t>platforms.Manual</a:t>
            </a:r>
            <a:r>
              <a:rPr lang="en-US" dirty="0"/>
              <a:t> searching for movies is time-consuming and often does not match user preferences.</a:t>
            </a:r>
            <a:endParaRPr lang="en-IN" dirty="0"/>
          </a:p>
        </p:txBody>
      </p:sp>
      <p:pic>
        <p:nvPicPr>
          <p:cNvPr id="7" name="Picture 6">
            <a:extLst>
              <a:ext uri="{FF2B5EF4-FFF2-40B4-BE49-F238E27FC236}">
                <a16:creationId xmlns:a16="http://schemas.microsoft.com/office/drawing/2014/main" id="{FDC0C86E-6DA2-B249-A1AD-5854D29398DF}"/>
              </a:ext>
            </a:extLst>
          </p:cNvPr>
          <p:cNvPicPr>
            <a:picLocks noChangeAspect="1"/>
          </p:cNvPicPr>
          <p:nvPr/>
        </p:nvPicPr>
        <p:blipFill>
          <a:blip r:embed="rId2"/>
          <a:stretch>
            <a:fillRect/>
          </a:stretch>
        </p:blipFill>
        <p:spPr>
          <a:xfrm>
            <a:off x="8138137" y="1312607"/>
            <a:ext cx="3879691" cy="5264040"/>
          </a:xfrm>
          <a:prstGeom prst="rect">
            <a:avLst/>
          </a:prstGeom>
        </p:spPr>
      </p:pic>
      <p:sp>
        <p:nvSpPr>
          <p:cNvPr id="8" name="TextBox 7">
            <a:extLst>
              <a:ext uri="{FF2B5EF4-FFF2-40B4-BE49-F238E27FC236}">
                <a16:creationId xmlns:a16="http://schemas.microsoft.com/office/drawing/2014/main" id="{136D33AB-A8AB-0841-6F62-86327B2C44A0}"/>
              </a:ext>
            </a:extLst>
          </p:cNvPr>
          <p:cNvSpPr txBox="1"/>
          <p:nvPr/>
        </p:nvSpPr>
        <p:spPr>
          <a:xfrm>
            <a:off x="1096296" y="3263580"/>
            <a:ext cx="6360607" cy="3139321"/>
          </a:xfrm>
          <a:prstGeom prst="rect">
            <a:avLst/>
          </a:prstGeom>
          <a:noFill/>
        </p:spPr>
        <p:txBody>
          <a:bodyPr wrap="square" rtlCol="0">
            <a:spAutoFit/>
          </a:bodyPr>
          <a:lstStyle/>
          <a:p>
            <a:r>
              <a:rPr lang="en-US" b="1" dirty="0"/>
              <a:t>Dataset Collection:</a:t>
            </a:r>
          </a:p>
          <a:p>
            <a:r>
              <a:rPr lang="en-US" dirty="0"/>
              <a:t>Movie titles, genres, and descriptions are collected from a dataset.</a:t>
            </a:r>
          </a:p>
          <a:p>
            <a:r>
              <a:rPr lang="en-US" b="1" dirty="0"/>
              <a:t>NLP Processing: </a:t>
            </a:r>
          </a:p>
          <a:p>
            <a:r>
              <a:rPr lang="en-US" dirty="0"/>
              <a:t>Text data is cleaned and preprocessed using NLP techniques.</a:t>
            </a:r>
          </a:p>
          <a:p>
            <a:r>
              <a:rPr lang="en-US" dirty="0"/>
              <a:t> </a:t>
            </a:r>
            <a:r>
              <a:rPr lang="en-US" b="1" dirty="0"/>
              <a:t>TF-IDF Extraction: </a:t>
            </a:r>
            <a:r>
              <a:rPr lang="en-US" dirty="0"/>
              <a:t>Text is converted into numerical features using TF-IDF.</a:t>
            </a:r>
          </a:p>
          <a:p>
            <a:r>
              <a:rPr lang="en-US" b="1" dirty="0"/>
              <a:t>KNN Recommendation: </a:t>
            </a:r>
          </a:p>
          <a:p>
            <a:r>
              <a:rPr lang="en-US" dirty="0"/>
              <a:t>KNN finds similar movies and recommends them to users.</a:t>
            </a:r>
            <a:endParaRPr lang="en-IN" dirty="0"/>
          </a:p>
        </p:txBody>
      </p:sp>
    </p:spTree>
    <p:extLst>
      <p:ext uri="{BB962C8B-B14F-4D97-AF65-F5344CB8AC3E}">
        <p14:creationId xmlns:p14="http://schemas.microsoft.com/office/powerpoint/2010/main" val="3429221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411EC1-CA5C-089D-F2E4-3F6A6BFE18BC}"/>
              </a:ext>
            </a:extLst>
          </p:cNvPr>
          <p:cNvSpPr txBox="1"/>
          <p:nvPr/>
        </p:nvSpPr>
        <p:spPr>
          <a:xfrm>
            <a:off x="993058" y="668594"/>
            <a:ext cx="7551174" cy="646331"/>
          </a:xfrm>
          <a:prstGeom prst="rect">
            <a:avLst/>
          </a:prstGeom>
          <a:noFill/>
        </p:spPr>
        <p:txBody>
          <a:bodyPr wrap="square" rtlCol="0">
            <a:spAutoFit/>
          </a:bodyPr>
          <a:lstStyle/>
          <a:p>
            <a:r>
              <a:rPr lang="en-US" dirty="0"/>
              <a:t>Modules:</a:t>
            </a:r>
          </a:p>
          <a:p>
            <a:endParaRPr lang="en-IN" dirty="0"/>
          </a:p>
        </p:txBody>
      </p:sp>
      <p:sp>
        <p:nvSpPr>
          <p:cNvPr id="3" name="TextBox 2">
            <a:extLst>
              <a:ext uri="{FF2B5EF4-FFF2-40B4-BE49-F238E27FC236}">
                <a16:creationId xmlns:a16="http://schemas.microsoft.com/office/drawing/2014/main" id="{37289ECA-90D7-E770-5624-652B9A6F954B}"/>
              </a:ext>
            </a:extLst>
          </p:cNvPr>
          <p:cNvSpPr txBox="1"/>
          <p:nvPr/>
        </p:nvSpPr>
        <p:spPr>
          <a:xfrm>
            <a:off x="993058" y="1199535"/>
            <a:ext cx="9458631" cy="4524315"/>
          </a:xfrm>
          <a:prstGeom prst="rect">
            <a:avLst/>
          </a:prstGeom>
          <a:noFill/>
        </p:spPr>
        <p:txBody>
          <a:bodyPr wrap="square" rtlCol="0">
            <a:spAutoFit/>
          </a:bodyPr>
          <a:lstStyle/>
          <a:p>
            <a:r>
              <a:rPr lang="en-US" b="1" dirty="0"/>
              <a:t>1</a:t>
            </a:r>
            <a:r>
              <a:rPr lang="en-US" dirty="0"/>
              <a:t>.</a:t>
            </a:r>
            <a:r>
              <a:rPr lang="en-US" b="1" dirty="0"/>
              <a:t>Dataset Collection Module:</a:t>
            </a:r>
          </a:p>
          <a:p>
            <a:r>
              <a:rPr lang="en-US" dirty="0"/>
              <a:t>This module collects the movie dataset containing movie titles, genres, and descriptions from sources like Kaggle. The dataset acts as the input for the recommendation system.</a:t>
            </a:r>
          </a:p>
          <a:p>
            <a:r>
              <a:rPr lang="en-US" b="1" dirty="0"/>
              <a:t>2. Data Preprocessing Module:</a:t>
            </a:r>
          </a:p>
          <a:p>
            <a:r>
              <a:rPr lang="en-US" dirty="0"/>
              <a:t>In this module, the movie data is cleaned and prepared by removing unnecessary words, punctuation, and missing values to make the dataset suitable for processing.</a:t>
            </a:r>
          </a:p>
          <a:p>
            <a:r>
              <a:rPr lang="en-US" b="1" dirty="0"/>
              <a:t>3. Feature Extraction Module:</a:t>
            </a:r>
          </a:p>
          <a:p>
            <a:r>
              <a:rPr lang="en-US" dirty="0"/>
              <a:t>This module converts movie descriptions into numerical features using TF-IDF, which helps the system understand the importance of words in the dataset.</a:t>
            </a:r>
          </a:p>
          <a:p>
            <a:r>
              <a:rPr lang="en-US" b="1" dirty="0"/>
              <a:t>4. Similarity Calculation Module:</a:t>
            </a:r>
          </a:p>
          <a:p>
            <a:r>
              <a:rPr lang="en-US" dirty="0"/>
              <a:t>The processed data is analyzed using the K-Nearest Neighbors to find movies that are similar to each other based on their features.</a:t>
            </a:r>
          </a:p>
          <a:p>
            <a:r>
              <a:rPr lang="en-US" b="1" dirty="0"/>
              <a:t>5. Recommendation Module:</a:t>
            </a:r>
          </a:p>
          <a:p>
            <a:r>
              <a:rPr lang="en-US" dirty="0"/>
              <a:t>This module generates and displays the final movie recommendations to the user based on similarity results.</a:t>
            </a:r>
            <a:endParaRPr lang="en-IN" dirty="0"/>
          </a:p>
        </p:txBody>
      </p:sp>
    </p:spTree>
    <p:extLst>
      <p:ext uri="{BB962C8B-B14F-4D97-AF65-F5344CB8AC3E}">
        <p14:creationId xmlns:p14="http://schemas.microsoft.com/office/powerpoint/2010/main" val="3055221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D794A2-4E69-A8F3-62CD-679C66C70B6D}"/>
              </a:ext>
            </a:extLst>
          </p:cNvPr>
          <p:cNvSpPr txBox="1"/>
          <p:nvPr/>
        </p:nvSpPr>
        <p:spPr>
          <a:xfrm>
            <a:off x="580103" y="1160206"/>
            <a:ext cx="4572000" cy="646331"/>
          </a:xfrm>
          <a:prstGeom prst="rect">
            <a:avLst/>
          </a:prstGeom>
          <a:noFill/>
        </p:spPr>
        <p:txBody>
          <a:bodyPr wrap="square" rtlCol="0">
            <a:spAutoFit/>
          </a:bodyPr>
          <a:lstStyle/>
          <a:p>
            <a:r>
              <a:rPr lang="en-US" b="1" dirty="0"/>
              <a:t>System Design:</a:t>
            </a:r>
          </a:p>
          <a:p>
            <a:endParaRPr lang="en-IN" b="1" dirty="0"/>
          </a:p>
        </p:txBody>
      </p:sp>
      <p:pic>
        <p:nvPicPr>
          <p:cNvPr id="5" name="Picture 4">
            <a:extLst>
              <a:ext uri="{FF2B5EF4-FFF2-40B4-BE49-F238E27FC236}">
                <a16:creationId xmlns:a16="http://schemas.microsoft.com/office/drawing/2014/main" id="{C199917B-A76A-4D93-0FE8-22BFA01D2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5097" y="993057"/>
            <a:ext cx="4965289" cy="5663381"/>
          </a:xfrm>
          <a:prstGeom prst="rect">
            <a:avLst/>
          </a:prstGeom>
        </p:spPr>
      </p:pic>
      <p:sp>
        <p:nvSpPr>
          <p:cNvPr id="6" name="TextBox 5">
            <a:extLst>
              <a:ext uri="{FF2B5EF4-FFF2-40B4-BE49-F238E27FC236}">
                <a16:creationId xmlns:a16="http://schemas.microsoft.com/office/drawing/2014/main" id="{ADDB47B6-39C2-82EE-11F7-25C18C5612DF}"/>
              </a:ext>
            </a:extLst>
          </p:cNvPr>
          <p:cNvSpPr txBox="1"/>
          <p:nvPr/>
        </p:nvSpPr>
        <p:spPr>
          <a:xfrm>
            <a:off x="491614" y="2418734"/>
            <a:ext cx="5968178" cy="2671180"/>
          </a:xfrm>
          <a:prstGeom prst="rect">
            <a:avLst/>
          </a:prstGeom>
          <a:noFill/>
        </p:spPr>
        <p:txBody>
          <a:bodyPr wrap="square" rtlCol="0">
            <a:spAutoFit/>
          </a:bodyPr>
          <a:lstStyle/>
          <a:p>
            <a:r>
              <a:rPr lang="en-US" dirty="0"/>
              <a:t>Key Technologies used in the flow:</a:t>
            </a:r>
          </a:p>
          <a:p>
            <a:endParaRPr lang="en-US" dirty="0"/>
          </a:p>
          <a:p>
            <a:pPr>
              <a:lnSpc>
                <a:spcPct val="150000"/>
              </a:lnSpc>
            </a:pPr>
            <a:endParaRPr lang="en-US" dirty="0"/>
          </a:p>
          <a:p>
            <a:pPr>
              <a:lnSpc>
                <a:spcPct val="150000"/>
              </a:lnSpc>
            </a:pPr>
            <a:r>
              <a:rPr lang="en-US" dirty="0"/>
              <a:t>TF-IDF – converts movie descriptions into numerical vectors.</a:t>
            </a:r>
          </a:p>
          <a:p>
            <a:pPr>
              <a:lnSpc>
                <a:spcPct val="150000"/>
              </a:lnSpc>
            </a:pPr>
            <a:r>
              <a:rPr lang="en-US" dirty="0"/>
              <a:t>K-Nearest Neighbors – finds movies with similar features.</a:t>
            </a:r>
            <a:endParaRPr lang="en-IN" dirty="0"/>
          </a:p>
        </p:txBody>
      </p:sp>
    </p:spTree>
    <p:extLst>
      <p:ext uri="{BB962C8B-B14F-4D97-AF65-F5344CB8AC3E}">
        <p14:creationId xmlns:p14="http://schemas.microsoft.com/office/powerpoint/2010/main" val="1798928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D8776-16D7-CB16-19E3-5CC34A1625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F63DD4-9720-31C3-8816-EFF51B2821F3}"/>
              </a:ext>
            </a:extLst>
          </p:cNvPr>
          <p:cNvSpPr txBox="1"/>
          <p:nvPr/>
        </p:nvSpPr>
        <p:spPr>
          <a:xfrm>
            <a:off x="993058" y="771832"/>
            <a:ext cx="4572000" cy="369332"/>
          </a:xfrm>
          <a:prstGeom prst="rect">
            <a:avLst/>
          </a:prstGeom>
          <a:noFill/>
        </p:spPr>
        <p:txBody>
          <a:bodyPr wrap="square" rtlCol="0">
            <a:spAutoFit/>
          </a:bodyPr>
          <a:lstStyle/>
          <a:p>
            <a:r>
              <a:rPr lang="en-US" b="1" dirty="0"/>
              <a:t>Implementation:</a:t>
            </a:r>
            <a:endParaRPr lang="en-IN" b="1" dirty="0"/>
          </a:p>
        </p:txBody>
      </p:sp>
      <p:sp>
        <p:nvSpPr>
          <p:cNvPr id="3" name="TextBox 2">
            <a:extLst>
              <a:ext uri="{FF2B5EF4-FFF2-40B4-BE49-F238E27FC236}">
                <a16:creationId xmlns:a16="http://schemas.microsoft.com/office/drawing/2014/main" id="{FF4F0E9A-D39F-3D48-5BC8-8808AF1CCE93}"/>
              </a:ext>
            </a:extLst>
          </p:cNvPr>
          <p:cNvSpPr txBox="1"/>
          <p:nvPr/>
        </p:nvSpPr>
        <p:spPr>
          <a:xfrm>
            <a:off x="993058" y="1386348"/>
            <a:ext cx="9763432" cy="3779176"/>
          </a:xfrm>
          <a:prstGeom prst="rect">
            <a:avLst/>
          </a:prstGeom>
          <a:noFill/>
        </p:spPr>
        <p:txBody>
          <a:bodyPr wrap="square" rtlCol="0">
            <a:spAutoFit/>
          </a:bodyPr>
          <a:lstStyle/>
          <a:p>
            <a:pPr>
              <a:lnSpc>
                <a:spcPct val="150000"/>
              </a:lnSpc>
            </a:pPr>
            <a:r>
              <a:rPr lang="en-US" dirty="0"/>
              <a:t>1. The system is implemented using *Python* in *</a:t>
            </a:r>
            <a:r>
              <a:rPr lang="en-US" dirty="0" err="1"/>
              <a:t>Jupyter</a:t>
            </a:r>
            <a:r>
              <a:rPr lang="en-US" dirty="0"/>
              <a:t> Notebook* or *Google Colab* with libraries like Pandas, NumPy, and Scikit-learn.</a:t>
            </a:r>
          </a:p>
          <a:p>
            <a:pPr>
              <a:lnSpc>
                <a:spcPct val="150000"/>
              </a:lnSpc>
            </a:pPr>
            <a:r>
              <a:rPr lang="en-US" dirty="0"/>
              <a:t>2. A movie dataset containing titles, genres, and descriptions is collected from *Kaggle* and loaded for processing.</a:t>
            </a:r>
          </a:p>
          <a:p>
            <a:pPr>
              <a:lnSpc>
                <a:spcPct val="150000"/>
              </a:lnSpc>
            </a:pPr>
            <a:r>
              <a:rPr lang="en-US" dirty="0"/>
              <a:t>3. The dataset is cleaned through preprocessing by removing missing values, punctuation, and unnecessary words.</a:t>
            </a:r>
          </a:p>
          <a:p>
            <a:pPr>
              <a:lnSpc>
                <a:spcPct val="150000"/>
              </a:lnSpc>
            </a:pPr>
            <a:r>
              <a:rPr lang="en-US" dirty="0"/>
              <a:t>4. *TF-IDF* converts movie descriptions into numerical features.</a:t>
            </a:r>
          </a:p>
          <a:p>
            <a:pPr>
              <a:lnSpc>
                <a:spcPct val="150000"/>
              </a:lnSpc>
            </a:pPr>
            <a:r>
              <a:rPr lang="en-US" dirty="0"/>
              <a:t>5. The *K-Nearest Neighbors* is used to find similar movies.</a:t>
            </a:r>
          </a:p>
          <a:p>
            <a:pPr>
              <a:lnSpc>
                <a:spcPct val="150000"/>
              </a:lnSpc>
            </a:pPr>
            <a:r>
              <a:rPr lang="en-US" dirty="0"/>
              <a:t>6. The system finally displays recommended movies based on similarity results.</a:t>
            </a:r>
            <a:endParaRPr lang="en-IN" dirty="0"/>
          </a:p>
        </p:txBody>
      </p:sp>
    </p:spTree>
    <p:extLst>
      <p:ext uri="{BB962C8B-B14F-4D97-AF65-F5344CB8AC3E}">
        <p14:creationId xmlns:p14="http://schemas.microsoft.com/office/powerpoint/2010/main" val="499399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089F14-A9E9-DC0C-27D7-7EEE15F88C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extLst>
      <p:ext uri="{BB962C8B-B14F-4D97-AF65-F5344CB8AC3E}">
        <p14:creationId xmlns:p14="http://schemas.microsoft.com/office/powerpoint/2010/main" val="9087194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116</TotalTime>
  <Words>885</Words>
  <Application>Microsoft Office PowerPoint</Application>
  <PresentationFormat>Widescreen</PresentationFormat>
  <Paragraphs>84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bikki</dc:creator>
  <cp:lastModifiedBy>vishnu bikki</cp:lastModifiedBy>
  <cp:revision>1</cp:revision>
  <dcterms:created xsi:type="dcterms:W3CDTF">2026-02-06T11:29:19Z</dcterms:created>
  <dcterms:modified xsi:type="dcterms:W3CDTF">2026-03-27T06:58:53Z</dcterms:modified>
</cp:coreProperties>
</file>